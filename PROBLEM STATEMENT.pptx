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59" r:id="rId2"/>
    <p:sldId id="257" r:id="rId3"/>
    <p:sldId id="258" r:id="rId4"/>
    <p:sldId id="260"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89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087E22-5266-4676-84A1-8D93B49A257D}" type="datetimeFigureOut">
              <a:rPr lang="en-IN" smtClean="0"/>
              <a:t>24-02-2026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607FFA-A54D-446B-BA12-8B6758BEF1ED}" type="slidenum">
              <a:rPr lang="en-IN" smtClean="0"/>
              <a:t>‹#›</a:t>
            </a:fld>
            <a:endParaRPr lang="en-IN"/>
          </a:p>
        </p:txBody>
      </p:sp>
    </p:spTree>
    <p:extLst>
      <p:ext uri="{BB962C8B-B14F-4D97-AF65-F5344CB8AC3E}">
        <p14:creationId xmlns:p14="http://schemas.microsoft.com/office/powerpoint/2010/main" val="1155028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3607FFA-A54D-446B-BA12-8B6758BEF1ED}" type="slidenum">
              <a:rPr lang="en-IN" smtClean="0"/>
              <a:t>5</a:t>
            </a:fld>
            <a:endParaRPr lang="en-IN"/>
          </a:p>
        </p:txBody>
      </p:sp>
    </p:spTree>
    <p:extLst>
      <p:ext uri="{BB962C8B-B14F-4D97-AF65-F5344CB8AC3E}">
        <p14:creationId xmlns:p14="http://schemas.microsoft.com/office/powerpoint/2010/main" val="4745596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2F450474-D3F5-45A6-82C2-2DEC430CC565}" type="datetimeFigureOut">
              <a:rPr lang="en-IN" smtClean="0"/>
              <a:t>24-02-2026</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0FB0C08B-C7A9-44D1-B89B-8C2D9DF87D9D}" type="slidenum">
              <a:rPr lang="en-IN" smtClean="0"/>
              <a:t>‹#›</a:t>
            </a:fld>
            <a:endParaRPr lang="en-IN"/>
          </a:p>
        </p:txBody>
      </p:sp>
    </p:spTree>
    <p:extLst>
      <p:ext uri="{BB962C8B-B14F-4D97-AF65-F5344CB8AC3E}">
        <p14:creationId xmlns:p14="http://schemas.microsoft.com/office/powerpoint/2010/main" val="28887866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F450474-D3F5-45A6-82C2-2DEC430CC565}" type="datetimeFigureOut">
              <a:rPr lang="en-IN" smtClean="0"/>
              <a:t>24-02-2026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FB0C08B-C7A9-44D1-B89B-8C2D9DF87D9D}" type="slidenum">
              <a:rPr lang="en-IN" smtClean="0"/>
              <a:t>‹#›</a:t>
            </a:fld>
            <a:endParaRPr lang="en-IN"/>
          </a:p>
        </p:txBody>
      </p:sp>
    </p:spTree>
    <p:extLst>
      <p:ext uri="{BB962C8B-B14F-4D97-AF65-F5344CB8AC3E}">
        <p14:creationId xmlns:p14="http://schemas.microsoft.com/office/powerpoint/2010/main" val="1554724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2F450474-D3F5-45A6-82C2-2DEC430CC565}" type="datetimeFigureOut">
              <a:rPr lang="en-IN" smtClean="0"/>
              <a:t>24-02-2026</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0FB0C08B-C7A9-44D1-B89B-8C2D9DF87D9D}" type="slidenum">
              <a:rPr lang="en-IN" smtClean="0"/>
              <a:t>‹#›</a:t>
            </a:fld>
            <a:endParaRPr lang="en-IN"/>
          </a:p>
        </p:txBody>
      </p:sp>
    </p:spTree>
    <p:extLst>
      <p:ext uri="{BB962C8B-B14F-4D97-AF65-F5344CB8AC3E}">
        <p14:creationId xmlns:p14="http://schemas.microsoft.com/office/powerpoint/2010/main" val="358326925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450474-D3F5-45A6-82C2-2DEC430CC565}" type="datetimeFigureOut">
              <a:rPr lang="en-IN" smtClean="0"/>
              <a:t>24-02-2026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B0C08B-C7A9-44D1-B89B-8C2D9DF87D9D}" type="slidenum">
              <a:rPr lang="en-IN" smtClean="0"/>
              <a:t>‹#›</a:t>
            </a:fld>
            <a:endParaRPr lang="en-IN"/>
          </a:p>
        </p:txBody>
      </p:sp>
    </p:spTree>
    <p:extLst>
      <p:ext uri="{BB962C8B-B14F-4D97-AF65-F5344CB8AC3E}">
        <p14:creationId xmlns:p14="http://schemas.microsoft.com/office/powerpoint/2010/main" val="1759655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F450474-D3F5-45A6-82C2-2DEC430CC565}" type="datetimeFigureOut">
              <a:rPr lang="en-IN" smtClean="0"/>
              <a:t>24-02-2026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FB0C08B-C7A9-44D1-B89B-8C2D9DF87D9D}" type="slidenum">
              <a:rPr lang="en-IN" smtClean="0"/>
              <a:t>‹#›</a:t>
            </a:fld>
            <a:endParaRPr lang="en-IN"/>
          </a:p>
        </p:txBody>
      </p:sp>
    </p:spTree>
    <p:extLst>
      <p:ext uri="{BB962C8B-B14F-4D97-AF65-F5344CB8AC3E}">
        <p14:creationId xmlns:p14="http://schemas.microsoft.com/office/powerpoint/2010/main" val="608090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F450474-D3F5-45A6-82C2-2DEC430CC565}" type="datetimeFigureOut">
              <a:rPr lang="en-IN" smtClean="0"/>
              <a:t>24-02-2026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FB0C08B-C7A9-44D1-B89B-8C2D9DF87D9D}" type="slidenum">
              <a:rPr lang="en-IN" smtClean="0"/>
              <a:t>‹#›</a:t>
            </a:fld>
            <a:endParaRPr lang="en-IN"/>
          </a:p>
        </p:txBody>
      </p:sp>
    </p:spTree>
    <p:extLst>
      <p:ext uri="{BB962C8B-B14F-4D97-AF65-F5344CB8AC3E}">
        <p14:creationId xmlns:p14="http://schemas.microsoft.com/office/powerpoint/2010/main" val="2205352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450474-D3F5-45A6-82C2-2DEC430CC565}" type="datetimeFigureOut">
              <a:rPr lang="en-IN" smtClean="0"/>
              <a:t>24-02-2026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FB0C08B-C7A9-44D1-B89B-8C2D9DF87D9D}" type="slidenum">
              <a:rPr lang="en-IN" smtClean="0"/>
              <a:t>‹#›</a:t>
            </a:fld>
            <a:endParaRPr lang="en-IN"/>
          </a:p>
        </p:txBody>
      </p:sp>
    </p:spTree>
    <p:extLst>
      <p:ext uri="{BB962C8B-B14F-4D97-AF65-F5344CB8AC3E}">
        <p14:creationId xmlns:p14="http://schemas.microsoft.com/office/powerpoint/2010/main" val="3934217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2F450474-D3F5-45A6-82C2-2DEC430CC565}" type="datetimeFigureOut">
              <a:rPr lang="en-IN" smtClean="0"/>
              <a:t>24-02-2026</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0FB0C08B-C7A9-44D1-B89B-8C2D9DF87D9D}"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90670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2F450474-D3F5-45A6-82C2-2DEC430CC565}" type="datetimeFigureOut">
              <a:rPr lang="en-IN" smtClean="0"/>
              <a:t>24-02-2026</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0FB0C08B-C7A9-44D1-B89B-8C2D9DF87D9D}"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93250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450474-D3F5-45A6-82C2-2DEC430CC565}" type="datetimeFigureOut">
              <a:rPr lang="en-IN" smtClean="0"/>
              <a:t>24-02-2026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B0C08B-C7A9-44D1-B89B-8C2D9DF87D9D}" type="slidenum">
              <a:rPr lang="en-IN" smtClean="0"/>
              <a:t>‹#›</a:t>
            </a:fld>
            <a:endParaRPr lang="en-IN"/>
          </a:p>
        </p:txBody>
      </p:sp>
    </p:spTree>
    <p:extLst>
      <p:ext uri="{BB962C8B-B14F-4D97-AF65-F5344CB8AC3E}">
        <p14:creationId xmlns:p14="http://schemas.microsoft.com/office/powerpoint/2010/main" val="427850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450474-D3F5-45A6-82C2-2DEC430CC565}" type="datetimeFigureOut">
              <a:rPr lang="en-IN" smtClean="0"/>
              <a:t>24-02-2026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B0C08B-C7A9-44D1-B89B-8C2D9DF87D9D}" type="slidenum">
              <a:rPr lang="en-IN" smtClean="0"/>
              <a:t>‹#›</a:t>
            </a:fld>
            <a:endParaRPr lang="en-IN"/>
          </a:p>
        </p:txBody>
      </p:sp>
    </p:spTree>
    <p:extLst>
      <p:ext uri="{BB962C8B-B14F-4D97-AF65-F5344CB8AC3E}">
        <p14:creationId xmlns:p14="http://schemas.microsoft.com/office/powerpoint/2010/main" val="2140195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2F450474-D3F5-45A6-82C2-2DEC430CC565}" type="datetimeFigureOut">
              <a:rPr lang="en-IN" smtClean="0"/>
              <a:t>24-02-2026</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0FB0C08B-C7A9-44D1-B89B-8C2D9DF87D9D}" type="slidenum">
              <a:rPr lang="en-IN" smtClean="0"/>
              <a:t>‹#›</a:t>
            </a:fld>
            <a:endParaRPr lang="en-IN"/>
          </a:p>
        </p:txBody>
      </p:sp>
    </p:spTree>
    <p:extLst>
      <p:ext uri="{BB962C8B-B14F-4D97-AF65-F5344CB8AC3E}">
        <p14:creationId xmlns:p14="http://schemas.microsoft.com/office/powerpoint/2010/main" val="36490811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2FB61-4356-94EB-6F0E-F8A25C6C5A09}"/>
              </a:ext>
            </a:extLst>
          </p:cNvPr>
          <p:cNvSpPr>
            <a:spLocks noGrp="1"/>
          </p:cNvSpPr>
          <p:nvPr>
            <p:ph type="ctrTitle"/>
          </p:nvPr>
        </p:nvSpPr>
        <p:spPr/>
        <p:txBody>
          <a:bodyPr/>
          <a:lstStyle/>
          <a:p>
            <a:r>
              <a:rPr lang="en-US" sz="2400" b="1" dirty="0" err="1">
                <a:cs typeface="Times New Roman" panose="02020603050405020304" pitchFamily="18" charset="0"/>
              </a:rPr>
              <a:t>FarmChainX</a:t>
            </a:r>
            <a:r>
              <a:rPr lang="en-US" sz="2400" b="1" dirty="0">
                <a:cs typeface="Times New Roman" panose="02020603050405020304" pitchFamily="18" charset="0"/>
              </a:rPr>
              <a:t> AI-Driven Agricultural Traceability Network</a:t>
            </a:r>
            <a:endParaRPr lang="en-IN" sz="2400" b="1" dirty="0">
              <a:cs typeface="Times New Roman" panose="02020603050405020304" pitchFamily="18" charset="0"/>
            </a:endParaRPr>
          </a:p>
        </p:txBody>
      </p:sp>
    </p:spTree>
    <p:extLst>
      <p:ext uri="{BB962C8B-B14F-4D97-AF65-F5344CB8AC3E}">
        <p14:creationId xmlns:p14="http://schemas.microsoft.com/office/powerpoint/2010/main" val="2941350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9F5E5-C2CE-234B-0A35-894C28390745}"/>
              </a:ext>
            </a:extLst>
          </p:cNvPr>
          <p:cNvSpPr>
            <a:spLocks noGrp="1"/>
          </p:cNvSpPr>
          <p:nvPr>
            <p:ph type="title"/>
          </p:nvPr>
        </p:nvSpPr>
        <p:spPr>
          <a:xfrm>
            <a:off x="1251857" y="588165"/>
            <a:ext cx="10058400" cy="1371600"/>
          </a:xfrm>
        </p:spPr>
        <p:txBody>
          <a:bodyPr/>
          <a:lstStyle/>
          <a:p>
            <a:r>
              <a:rPr lang="en-IN" dirty="0"/>
              <a:t>PROBLEM STATEMENT</a:t>
            </a:r>
          </a:p>
        </p:txBody>
      </p:sp>
      <p:sp>
        <p:nvSpPr>
          <p:cNvPr id="3" name="Content Placeholder 2">
            <a:extLst>
              <a:ext uri="{FF2B5EF4-FFF2-40B4-BE49-F238E27FC236}">
                <a16:creationId xmlns:a16="http://schemas.microsoft.com/office/drawing/2014/main" id="{6C3D94C6-F57D-3D98-5208-A7123AC5FBFF}"/>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The current agricultural supply chain lacks transparency and proper traceability mechanisms. Agricultural products pass through multiple stages such as farming, processing, storage, and transportation, but there is no unified system to monitor and record each stage effectively. This creates risks of food fraud, mislabeling, and quality deterioration. Farmers often receive unfair pricing due to the involvement of multiple intermediaries and lack of visibility in the pricing structure. At the same time, consumers are unable to verify the origin, authenticity, and safety of the products they purchase, leading to reduced trust in the agricultural ecosystem.</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6902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1268-9A95-DDC0-008D-A97EB992C184}"/>
              </a:ext>
            </a:extLst>
          </p:cNvPr>
          <p:cNvSpPr>
            <a:spLocks noGrp="1"/>
          </p:cNvSpPr>
          <p:nvPr>
            <p:ph type="title"/>
          </p:nvPr>
        </p:nvSpPr>
        <p:spPr>
          <a:xfrm>
            <a:off x="2775857" y="287443"/>
            <a:ext cx="10058400" cy="1371600"/>
          </a:xfrm>
        </p:spPr>
        <p:txBody>
          <a:bodyPr/>
          <a:lstStyle/>
          <a:p>
            <a:r>
              <a:rPr lang="en-IN" dirty="0"/>
              <a:t>Architecture Diagram</a:t>
            </a:r>
          </a:p>
        </p:txBody>
      </p:sp>
      <p:pic>
        <p:nvPicPr>
          <p:cNvPr id="6" name="Content Placeholder 5">
            <a:extLst>
              <a:ext uri="{FF2B5EF4-FFF2-40B4-BE49-F238E27FC236}">
                <a16:creationId xmlns:a16="http://schemas.microsoft.com/office/drawing/2014/main" id="{90CDB0CF-7EFA-47D3-5EA6-2A5FF3506B0F}"/>
              </a:ext>
            </a:extLst>
          </p:cNvPr>
          <p:cNvPicPr>
            <a:picLocks noGrp="1" noChangeAspect="1"/>
          </p:cNvPicPr>
          <p:nvPr>
            <p:ph idx="1"/>
          </p:nvPr>
        </p:nvPicPr>
        <p:blipFill>
          <a:blip r:embed="rId2"/>
          <a:stretch>
            <a:fillRect/>
          </a:stretch>
        </p:blipFill>
        <p:spPr>
          <a:xfrm>
            <a:off x="2577193" y="1365127"/>
            <a:ext cx="7037614" cy="4987697"/>
          </a:xfrm>
          <a:prstGeom prst="rect">
            <a:avLst/>
          </a:prstGeom>
        </p:spPr>
      </p:pic>
    </p:spTree>
    <p:extLst>
      <p:ext uri="{BB962C8B-B14F-4D97-AF65-F5344CB8AC3E}">
        <p14:creationId xmlns:p14="http://schemas.microsoft.com/office/powerpoint/2010/main" val="1566217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8D26-808D-B81D-BFA8-97D7E0569D0D}"/>
              </a:ext>
            </a:extLst>
          </p:cNvPr>
          <p:cNvSpPr>
            <a:spLocks noGrp="1"/>
          </p:cNvSpPr>
          <p:nvPr>
            <p:ph type="title"/>
          </p:nvPr>
        </p:nvSpPr>
        <p:spPr>
          <a:xfrm>
            <a:off x="517072" y="903852"/>
            <a:ext cx="3374571" cy="5050296"/>
          </a:xfrm>
        </p:spPr>
        <p:txBody>
          <a:bodyPr/>
          <a:lstStyle/>
          <a:p>
            <a:pPr algn="ctr"/>
            <a:r>
              <a:rPr lang="en-IN" dirty="0"/>
              <a:t>Use Case Diagram</a:t>
            </a:r>
          </a:p>
        </p:txBody>
      </p:sp>
      <p:pic>
        <p:nvPicPr>
          <p:cNvPr id="5" name="Content Placeholder 4">
            <a:extLst>
              <a:ext uri="{FF2B5EF4-FFF2-40B4-BE49-F238E27FC236}">
                <a16:creationId xmlns:a16="http://schemas.microsoft.com/office/drawing/2014/main" id="{6A6F00DB-9FA2-73CD-8F8F-9534EC2A41F6}"/>
              </a:ext>
            </a:extLst>
          </p:cNvPr>
          <p:cNvPicPr>
            <a:picLocks noGrp="1" noChangeAspect="1"/>
          </p:cNvPicPr>
          <p:nvPr>
            <p:ph idx="1"/>
          </p:nvPr>
        </p:nvPicPr>
        <p:blipFill>
          <a:blip r:embed="rId2"/>
          <a:stretch>
            <a:fillRect/>
          </a:stretch>
        </p:blipFill>
        <p:spPr>
          <a:xfrm>
            <a:off x="4262131" y="228938"/>
            <a:ext cx="7694882" cy="6400462"/>
          </a:xfrm>
          <a:prstGeom prst="rect">
            <a:avLst/>
          </a:prstGeom>
        </p:spPr>
      </p:pic>
    </p:spTree>
    <p:extLst>
      <p:ext uri="{BB962C8B-B14F-4D97-AF65-F5344CB8AC3E}">
        <p14:creationId xmlns:p14="http://schemas.microsoft.com/office/powerpoint/2010/main" val="3041769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BAF64-7EFC-E7D6-A999-2406E5F5B5F0}"/>
              </a:ext>
            </a:extLst>
          </p:cNvPr>
          <p:cNvSpPr>
            <a:spLocks noGrp="1"/>
          </p:cNvSpPr>
          <p:nvPr>
            <p:ph type="title"/>
          </p:nvPr>
        </p:nvSpPr>
        <p:spPr>
          <a:xfrm>
            <a:off x="511627" y="479307"/>
            <a:ext cx="11168743" cy="858155"/>
          </a:xfrm>
        </p:spPr>
        <p:txBody>
          <a:bodyPr>
            <a:normAutofit/>
          </a:bodyPr>
          <a:lstStyle/>
          <a:p>
            <a:r>
              <a:rPr lang="en-IN" dirty="0"/>
              <a:t>Modules</a:t>
            </a:r>
          </a:p>
        </p:txBody>
      </p:sp>
      <p:sp>
        <p:nvSpPr>
          <p:cNvPr id="3" name="Content Placeholder 2">
            <a:extLst>
              <a:ext uri="{FF2B5EF4-FFF2-40B4-BE49-F238E27FC236}">
                <a16:creationId xmlns:a16="http://schemas.microsoft.com/office/drawing/2014/main" id="{F3A548B6-5FD3-25CB-B0F9-08B7E355FEA2}"/>
              </a:ext>
            </a:extLst>
          </p:cNvPr>
          <p:cNvSpPr>
            <a:spLocks noGrp="1"/>
          </p:cNvSpPr>
          <p:nvPr>
            <p:ph sz="half" idx="1"/>
          </p:nvPr>
        </p:nvSpPr>
        <p:spPr>
          <a:xfrm>
            <a:off x="457197" y="1572158"/>
            <a:ext cx="4691746" cy="2123195"/>
          </a:xfrm>
        </p:spPr>
        <p:txBody>
          <a:bodyPr>
            <a:noAutofit/>
          </a:bodyPr>
          <a:lstStyle/>
          <a:p>
            <a:pPr marL="0" indent="0">
              <a:buNone/>
            </a:pPr>
            <a:r>
              <a:rPr lang="en-IN" b="1" dirty="0"/>
              <a:t>Authentication &amp; Authorization Module</a:t>
            </a:r>
          </a:p>
          <a:p>
            <a:pPr marL="0" indent="0">
              <a:buNone/>
            </a:pPr>
            <a:r>
              <a:rPr lang="en-IN" b="1" dirty="0"/>
              <a:t>Purpose:</a:t>
            </a:r>
            <a:r>
              <a:rPr lang="en-IN" dirty="0"/>
              <a:t> Secure system access</a:t>
            </a:r>
          </a:p>
          <a:p>
            <a:pPr marL="0" indent="0">
              <a:buNone/>
            </a:pPr>
            <a:endParaRPr lang="en-IN" dirty="0"/>
          </a:p>
          <a:p>
            <a:pPr marL="0" lvl="0" indent="0" eaLnBrk="0" fontAlgn="base" hangingPunct="0">
              <a:spcBef>
                <a:spcPct val="0"/>
              </a:spcBef>
              <a:spcAft>
                <a:spcPct val="0"/>
              </a:spcAft>
              <a:buClrTx/>
              <a:buFontTx/>
              <a:buChar char="•"/>
            </a:pPr>
            <a:r>
              <a:rPr lang="en-US" altLang="en-US" dirty="0">
                <a:latin typeface="Arial" panose="020B0604020202020204" pitchFamily="34" charset="0"/>
              </a:rPr>
              <a:t>User registration &amp; login</a:t>
            </a:r>
          </a:p>
          <a:p>
            <a:pPr marL="0" lvl="0" indent="0" eaLnBrk="0" fontAlgn="base" hangingPunct="0">
              <a:spcBef>
                <a:spcPct val="0"/>
              </a:spcBef>
              <a:spcAft>
                <a:spcPct val="0"/>
              </a:spcAft>
              <a:buClrTx/>
              <a:buFontTx/>
              <a:buChar char="•"/>
            </a:pPr>
            <a:r>
              <a:rPr lang="en-US" altLang="en-US" dirty="0">
                <a:latin typeface="Arial" panose="020B0604020202020204" pitchFamily="34" charset="0"/>
              </a:rPr>
              <a:t>Role-based access control</a:t>
            </a:r>
          </a:p>
          <a:p>
            <a:pPr marL="0" lvl="0" indent="0" eaLnBrk="0" fontAlgn="base" hangingPunct="0">
              <a:spcBef>
                <a:spcPct val="0"/>
              </a:spcBef>
              <a:spcAft>
                <a:spcPct val="0"/>
              </a:spcAft>
              <a:buClrTx/>
              <a:buFontTx/>
              <a:buChar char="•"/>
            </a:pPr>
            <a:r>
              <a:rPr lang="en-US" altLang="en-US" dirty="0">
                <a:latin typeface="Arial" panose="020B0604020202020204" pitchFamily="34" charset="0"/>
              </a:rPr>
              <a:t>JWT-based authentication</a:t>
            </a:r>
          </a:p>
          <a:p>
            <a:pPr marL="0" indent="0">
              <a:buNone/>
            </a:pPr>
            <a:endParaRPr lang="en-IN" dirty="0"/>
          </a:p>
          <a:p>
            <a:pPr marL="0" indent="0">
              <a:buNone/>
            </a:pPr>
            <a:endParaRPr lang="en-IN" dirty="0"/>
          </a:p>
          <a:p>
            <a:pPr marL="0" indent="0">
              <a:buNone/>
            </a:pPr>
            <a:endParaRPr lang="en-IN" dirty="0"/>
          </a:p>
          <a:p>
            <a:pPr marL="0" indent="0">
              <a:buNone/>
            </a:pPr>
            <a:endParaRPr lang="en-IN" dirty="0"/>
          </a:p>
          <a:p>
            <a:endParaRPr lang="en-IN" b="1" dirty="0"/>
          </a:p>
        </p:txBody>
      </p:sp>
      <p:sp>
        <p:nvSpPr>
          <p:cNvPr id="4" name="Content Placeholder 3">
            <a:extLst>
              <a:ext uri="{FF2B5EF4-FFF2-40B4-BE49-F238E27FC236}">
                <a16:creationId xmlns:a16="http://schemas.microsoft.com/office/drawing/2014/main" id="{8ECC0951-5C23-1133-FA56-C3D19524D591}"/>
              </a:ext>
            </a:extLst>
          </p:cNvPr>
          <p:cNvSpPr>
            <a:spLocks noGrp="1"/>
          </p:cNvSpPr>
          <p:nvPr>
            <p:ph sz="half" idx="2"/>
          </p:nvPr>
        </p:nvSpPr>
        <p:spPr>
          <a:xfrm>
            <a:off x="6301565" y="1572158"/>
            <a:ext cx="4769206" cy="2038834"/>
          </a:xfrm>
        </p:spPr>
        <p:txBody>
          <a:bodyPr>
            <a:noAutofit/>
          </a:bodyPr>
          <a:lstStyle/>
          <a:p>
            <a:pPr marL="0" lvl="0" indent="0" algn="just" eaLnBrk="0" fontAlgn="base" hangingPunct="0">
              <a:spcBef>
                <a:spcPct val="0"/>
              </a:spcBef>
              <a:spcAft>
                <a:spcPct val="0"/>
              </a:spcAft>
              <a:buClrTx/>
              <a:buNone/>
            </a:pPr>
            <a:r>
              <a:rPr lang="en-IN" b="1" dirty="0"/>
              <a:t>Batch Management Module</a:t>
            </a:r>
          </a:p>
          <a:p>
            <a:pPr marL="0" lvl="0" indent="0" algn="just" eaLnBrk="0" fontAlgn="base" hangingPunct="0">
              <a:spcBef>
                <a:spcPct val="0"/>
              </a:spcBef>
              <a:spcAft>
                <a:spcPct val="0"/>
              </a:spcAft>
              <a:buClrTx/>
              <a:buNone/>
            </a:pPr>
            <a:endParaRPr lang="en-IN" b="1" dirty="0"/>
          </a:p>
          <a:p>
            <a:pPr marL="0" lvl="0" indent="0" algn="just" eaLnBrk="0" fontAlgn="base" hangingPunct="0">
              <a:spcBef>
                <a:spcPct val="0"/>
              </a:spcBef>
              <a:spcAft>
                <a:spcPct val="0"/>
              </a:spcAft>
              <a:buClrTx/>
              <a:buNone/>
            </a:pPr>
            <a:r>
              <a:rPr lang="en-US" b="1" dirty="0"/>
              <a:t>Purpose:</a:t>
            </a:r>
            <a:r>
              <a:rPr lang="en-US" dirty="0"/>
              <a:t> Manage Crop Batches</a:t>
            </a:r>
          </a:p>
          <a:p>
            <a:pPr marL="0" lvl="0" indent="0" algn="just" eaLnBrk="0" fontAlgn="base" hangingPunct="0">
              <a:spcBef>
                <a:spcPct val="0"/>
              </a:spcBef>
              <a:spcAft>
                <a:spcPct val="0"/>
              </a:spcAft>
              <a:buClrTx/>
              <a:buNone/>
            </a:pPr>
            <a:endParaRPr lang="en-US" dirty="0"/>
          </a:p>
          <a:p>
            <a:pPr algn="just" eaLnBrk="0" fontAlgn="base" hangingPunct="0">
              <a:spcBef>
                <a:spcPct val="0"/>
              </a:spcBef>
              <a:spcAft>
                <a:spcPct val="0"/>
              </a:spcAft>
              <a:buClrTx/>
              <a:buFont typeface="Arial" panose="020B0604020202020204" pitchFamily="34" charset="0"/>
              <a:buChar char="•"/>
            </a:pPr>
            <a:r>
              <a:rPr lang="en-US" altLang="en-US" dirty="0">
                <a:latin typeface="Arial" panose="020B0604020202020204" pitchFamily="34" charset="0"/>
              </a:rPr>
              <a:t>Create and update batch</a:t>
            </a:r>
          </a:p>
          <a:p>
            <a:pPr algn="just" eaLnBrk="0" fontAlgn="base" hangingPunct="0">
              <a:spcBef>
                <a:spcPct val="0"/>
              </a:spcBef>
              <a:spcAft>
                <a:spcPct val="0"/>
              </a:spcAft>
              <a:buClrTx/>
              <a:buFont typeface="Arial" panose="020B0604020202020204" pitchFamily="34" charset="0"/>
              <a:buChar char="•"/>
            </a:pPr>
            <a:r>
              <a:rPr lang="en-US" altLang="en-US" dirty="0">
                <a:latin typeface="Arial" panose="020B0604020202020204" pitchFamily="34" charset="0"/>
              </a:rPr>
              <a:t>Assign ownership</a:t>
            </a:r>
          </a:p>
          <a:p>
            <a:pPr algn="just" eaLnBrk="0" fontAlgn="base" hangingPunct="0">
              <a:spcBef>
                <a:spcPct val="0"/>
              </a:spcBef>
              <a:spcAft>
                <a:spcPct val="0"/>
              </a:spcAft>
              <a:buClrTx/>
              <a:buFont typeface="Arial" panose="020B0604020202020204" pitchFamily="34" charset="0"/>
              <a:buChar char="•"/>
            </a:pPr>
            <a:r>
              <a:rPr lang="en-US" altLang="en-US" dirty="0">
                <a:latin typeface="Arial" panose="020B0604020202020204" pitchFamily="34" charset="0"/>
              </a:rPr>
              <a:t>Store batch details &amp; AI results</a:t>
            </a:r>
          </a:p>
          <a:p>
            <a:pPr marL="0" indent="0">
              <a:buNone/>
            </a:pPr>
            <a:endParaRPr lang="en-IN" dirty="0"/>
          </a:p>
        </p:txBody>
      </p:sp>
      <p:sp>
        <p:nvSpPr>
          <p:cNvPr id="6" name="Content Placeholder 2">
            <a:extLst>
              <a:ext uri="{FF2B5EF4-FFF2-40B4-BE49-F238E27FC236}">
                <a16:creationId xmlns:a16="http://schemas.microsoft.com/office/drawing/2014/main" id="{978309A2-3DAB-3471-2A8B-3B7552A98493}"/>
              </a:ext>
            </a:extLst>
          </p:cNvPr>
          <p:cNvSpPr txBox="1">
            <a:spLocks/>
          </p:cNvSpPr>
          <p:nvPr/>
        </p:nvSpPr>
        <p:spPr>
          <a:xfrm>
            <a:off x="511628" y="4019029"/>
            <a:ext cx="4060371" cy="1989886"/>
          </a:xfrm>
          <a:prstGeom prst="rect">
            <a:avLst/>
          </a:prstGeom>
        </p:spPr>
        <p:txBody>
          <a:bodyPr vert="horz" lIns="91440" tIns="45720" rIns="91440" bIns="45720" rtlCol="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indent="0">
              <a:buNone/>
            </a:pPr>
            <a:r>
              <a:rPr lang="en-IN" b="1" dirty="0"/>
              <a:t>User Management Module</a:t>
            </a:r>
          </a:p>
          <a:p>
            <a:pPr marL="0" indent="0">
              <a:buNone/>
            </a:pPr>
            <a:r>
              <a:rPr lang="en-IN" b="1" dirty="0"/>
              <a:t>Purpose:</a:t>
            </a:r>
            <a:r>
              <a:rPr lang="en-IN" dirty="0"/>
              <a:t> Manage system user</a:t>
            </a:r>
          </a:p>
          <a:p>
            <a:pPr marL="0" indent="0">
              <a:buNone/>
            </a:pPr>
            <a:endParaRPr lang="en-IN" dirty="0"/>
          </a:p>
          <a:p>
            <a:pPr marL="0" lvl="0" indent="0" eaLnBrk="0" fontAlgn="base" hangingPunct="0">
              <a:spcBef>
                <a:spcPct val="0"/>
              </a:spcBef>
              <a:spcAft>
                <a:spcPct val="0"/>
              </a:spcAft>
              <a:buClrTx/>
              <a:buFontTx/>
              <a:buChar char="•"/>
            </a:pPr>
            <a:r>
              <a:rPr lang="en-US" altLang="en-US" dirty="0">
                <a:latin typeface="Arial" panose="020B0604020202020204" pitchFamily="34" charset="0"/>
              </a:rPr>
              <a:t>Create &amp; update users</a:t>
            </a:r>
          </a:p>
          <a:p>
            <a:pPr marL="0" lvl="0" indent="0" eaLnBrk="0" fontAlgn="base" hangingPunct="0">
              <a:spcBef>
                <a:spcPct val="0"/>
              </a:spcBef>
              <a:spcAft>
                <a:spcPct val="0"/>
              </a:spcAft>
              <a:buClrTx/>
              <a:buFontTx/>
              <a:buChar char="•"/>
            </a:pPr>
            <a:r>
              <a:rPr lang="en-US" altLang="en-US" dirty="0">
                <a:latin typeface="Arial" panose="020B0604020202020204" pitchFamily="34" charset="0"/>
              </a:rPr>
              <a:t>Activate / deactivate accounts</a:t>
            </a:r>
          </a:p>
          <a:p>
            <a:pPr marL="0" lvl="0" indent="0" eaLnBrk="0" fontAlgn="base" hangingPunct="0">
              <a:spcBef>
                <a:spcPct val="0"/>
              </a:spcBef>
              <a:spcAft>
                <a:spcPct val="0"/>
              </a:spcAft>
              <a:buClrTx/>
              <a:buFontTx/>
              <a:buChar char="•"/>
            </a:pPr>
            <a:r>
              <a:rPr lang="en-US" altLang="en-US" dirty="0">
                <a:latin typeface="Arial" panose="020B0604020202020204" pitchFamily="34" charset="0"/>
              </a:rPr>
              <a:t>Admin control over users</a:t>
            </a:r>
          </a:p>
          <a:p>
            <a:pPr marL="0" indent="0">
              <a:buNone/>
            </a:pPr>
            <a:endParaRPr lang="en-IN" dirty="0"/>
          </a:p>
          <a:p>
            <a:pPr marL="0" indent="0">
              <a:buNone/>
            </a:pPr>
            <a:endParaRPr lang="en-IN" dirty="0"/>
          </a:p>
        </p:txBody>
      </p:sp>
      <p:sp>
        <p:nvSpPr>
          <p:cNvPr id="8" name="Rectangle 1">
            <a:extLst>
              <a:ext uri="{FF2B5EF4-FFF2-40B4-BE49-F238E27FC236}">
                <a16:creationId xmlns:a16="http://schemas.microsoft.com/office/drawing/2014/main" id="{1497B70D-B991-6629-14F9-2F96F013FE00}"/>
              </a:ext>
            </a:extLst>
          </p:cNvPr>
          <p:cNvSpPr>
            <a:spLocks noChangeArrowheads="1"/>
          </p:cNvSpPr>
          <p:nvPr/>
        </p:nvSpPr>
        <p:spPr bwMode="auto">
          <a:xfrm>
            <a:off x="674913" y="4725879"/>
            <a:ext cx="38970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Content Placeholder 3">
            <a:extLst>
              <a:ext uri="{FF2B5EF4-FFF2-40B4-BE49-F238E27FC236}">
                <a16:creationId xmlns:a16="http://schemas.microsoft.com/office/drawing/2014/main" id="{4D5E0284-3EAD-F841-AFB1-DF59F9C93E8E}"/>
              </a:ext>
            </a:extLst>
          </p:cNvPr>
          <p:cNvSpPr txBox="1">
            <a:spLocks/>
          </p:cNvSpPr>
          <p:nvPr/>
        </p:nvSpPr>
        <p:spPr>
          <a:xfrm>
            <a:off x="6301564" y="4019029"/>
            <a:ext cx="5694493" cy="2038834"/>
          </a:xfrm>
          <a:prstGeom prst="rect">
            <a:avLst/>
          </a:prstGeom>
        </p:spPr>
        <p:txBody>
          <a:bodyPr vert="horz" lIns="91440" tIns="45720" rIns="91440" bIns="45720" rtlCol="0">
            <a:no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indent="0" algn="just" eaLnBrk="0" fontAlgn="base" hangingPunct="0">
              <a:spcBef>
                <a:spcPct val="0"/>
              </a:spcBef>
              <a:spcAft>
                <a:spcPct val="0"/>
              </a:spcAft>
              <a:buClrTx/>
              <a:buFont typeface="Garamond" pitchFamily="18" charset="0"/>
              <a:buNone/>
            </a:pPr>
            <a:r>
              <a:rPr lang="en-IN" b="1" dirty="0"/>
              <a:t>Supply Chain Tracking Module</a:t>
            </a:r>
          </a:p>
          <a:p>
            <a:pPr marL="0" indent="0" algn="just" eaLnBrk="0" fontAlgn="base" hangingPunct="0">
              <a:spcBef>
                <a:spcPct val="0"/>
              </a:spcBef>
              <a:spcAft>
                <a:spcPct val="0"/>
              </a:spcAft>
              <a:buClrTx/>
              <a:buFont typeface="Garamond" pitchFamily="18" charset="0"/>
              <a:buNone/>
            </a:pPr>
            <a:r>
              <a:rPr lang="en-US" b="1" dirty="0"/>
              <a:t>Purpose:</a:t>
            </a:r>
            <a:r>
              <a:rPr lang="en-US" dirty="0"/>
              <a:t> Track movement of goods</a:t>
            </a:r>
          </a:p>
          <a:p>
            <a:pPr marL="0" indent="0" algn="just" eaLnBrk="0" fontAlgn="base" hangingPunct="0">
              <a:spcBef>
                <a:spcPct val="0"/>
              </a:spcBef>
              <a:spcAft>
                <a:spcPct val="0"/>
              </a:spcAft>
              <a:buClrTx/>
              <a:buFont typeface="Garamond" pitchFamily="18" charset="0"/>
              <a:buNone/>
            </a:pPr>
            <a:endParaRPr lang="en-US" altLang="en-US" dirty="0">
              <a:latin typeface="Arial" panose="020B0604020202020204" pitchFamily="34" charset="0"/>
            </a:endParaRPr>
          </a:p>
          <a:p>
            <a:pPr>
              <a:buFont typeface="Arial" panose="020B0604020202020204" pitchFamily="34" charset="0"/>
              <a:buChar char="•"/>
            </a:pPr>
            <a:r>
              <a:rPr lang="en-US" dirty="0">
                <a:latin typeface="Arial" panose="020B0604020202020204" pitchFamily="34" charset="0"/>
                <a:cs typeface="Arial" panose="020B0604020202020204" pitchFamily="34" charset="0"/>
              </a:rPr>
              <a:t>Transfer batch (Farmer → Distributor → Retailer)</a:t>
            </a:r>
          </a:p>
          <a:p>
            <a:pPr>
              <a:buFont typeface="Arial" panose="020B0604020202020204" pitchFamily="34" charset="0"/>
              <a:buChar char="•"/>
            </a:pPr>
            <a:r>
              <a:rPr lang="en-US" dirty="0">
                <a:latin typeface="Arial" panose="020B0604020202020204" pitchFamily="34" charset="0"/>
                <a:cs typeface="Arial" panose="020B0604020202020204" pitchFamily="34" charset="0"/>
              </a:rPr>
              <a:t>Maintain transaction logs</a:t>
            </a:r>
          </a:p>
          <a:p>
            <a:pPr>
              <a:buFont typeface="Arial" panose="020B0604020202020204" pitchFamily="34" charset="0"/>
              <a:buChar char="•"/>
            </a:pPr>
            <a:r>
              <a:rPr lang="en-US" dirty="0">
                <a:latin typeface="Arial" panose="020B0604020202020204" pitchFamily="34" charset="0"/>
                <a:cs typeface="Arial" panose="020B0604020202020204" pitchFamily="34" charset="0"/>
              </a:rPr>
              <a:t>Update batch status</a:t>
            </a:r>
          </a:p>
          <a:p>
            <a:pPr marL="0" indent="0" algn="just" eaLnBrk="0" fontAlgn="base" hangingPunct="0">
              <a:spcBef>
                <a:spcPct val="0"/>
              </a:spcBef>
              <a:spcAft>
                <a:spcPct val="0"/>
              </a:spcAft>
              <a:buClrTx/>
              <a:buFont typeface="Garamond" pitchFamily="18" charset="0"/>
              <a:buNone/>
            </a:pPr>
            <a:endParaRPr lang="en-US" altLang="en-US" dirty="0">
              <a:latin typeface="Arial" panose="020B0604020202020204" pitchFamily="34" charset="0"/>
            </a:endParaRPr>
          </a:p>
          <a:p>
            <a:endParaRPr lang="en-IN" dirty="0"/>
          </a:p>
        </p:txBody>
      </p:sp>
      <p:graphicFrame>
        <p:nvGraphicFramePr>
          <p:cNvPr id="21" name="Table 20">
            <a:extLst>
              <a:ext uri="{FF2B5EF4-FFF2-40B4-BE49-F238E27FC236}">
                <a16:creationId xmlns:a16="http://schemas.microsoft.com/office/drawing/2014/main" id="{0A491F23-B054-8C7B-6D7C-1FFDAFB2BE22}"/>
              </a:ext>
            </a:extLst>
          </p:cNvPr>
          <p:cNvGraphicFramePr>
            <a:graphicFrameLocks noGrp="1"/>
          </p:cNvGraphicFramePr>
          <p:nvPr>
            <p:extLst>
              <p:ext uri="{D42A27DB-BD31-4B8C-83A1-F6EECF244321}">
                <p14:modId xmlns:p14="http://schemas.microsoft.com/office/powerpoint/2010/main" val="2266580905"/>
              </p:ext>
            </p:extLst>
          </p:nvPr>
        </p:nvGraphicFramePr>
        <p:xfrm>
          <a:off x="375557" y="1473199"/>
          <a:ext cx="11440882" cy="4905494"/>
        </p:xfrm>
        <a:graphic>
          <a:graphicData uri="http://schemas.openxmlformats.org/drawingml/2006/table">
            <a:tbl>
              <a:tblPr firstRow="1" bandRow="1">
                <a:tableStyleId>{5940675A-B579-460E-94D1-54222C63F5DA}</a:tableStyleId>
              </a:tblPr>
              <a:tblGrid>
                <a:gridCol w="5475511">
                  <a:extLst>
                    <a:ext uri="{9D8B030D-6E8A-4147-A177-3AD203B41FA5}">
                      <a16:colId xmlns:a16="http://schemas.microsoft.com/office/drawing/2014/main" val="2064434845"/>
                    </a:ext>
                  </a:extLst>
                </a:gridCol>
                <a:gridCol w="5965371">
                  <a:extLst>
                    <a:ext uri="{9D8B030D-6E8A-4147-A177-3AD203B41FA5}">
                      <a16:colId xmlns:a16="http://schemas.microsoft.com/office/drawing/2014/main" val="681743852"/>
                    </a:ext>
                  </a:extLst>
                </a:gridCol>
              </a:tblGrid>
              <a:tr h="2452747">
                <a:tc>
                  <a:txBody>
                    <a:bodyPr/>
                    <a:lstStyle/>
                    <a:p>
                      <a:endParaRPr lang="en-IN" dirty="0"/>
                    </a:p>
                  </a:txBody>
                  <a:tcPr/>
                </a:tc>
                <a:tc>
                  <a:txBody>
                    <a:bodyPr/>
                    <a:lstStyle/>
                    <a:p>
                      <a:endParaRPr lang="en-IN" dirty="0"/>
                    </a:p>
                  </a:txBody>
                  <a:tcPr/>
                </a:tc>
                <a:extLst>
                  <a:ext uri="{0D108BD9-81ED-4DB2-BD59-A6C34878D82A}">
                    <a16:rowId xmlns:a16="http://schemas.microsoft.com/office/drawing/2014/main" val="445835567"/>
                  </a:ext>
                </a:extLst>
              </a:tr>
              <a:tr h="2452747">
                <a:tc>
                  <a:txBody>
                    <a:bodyPr/>
                    <a:lstStyle/>
                    <a:p>
                      <a:endParaRPr lang="en-IN"/>
                    </a:p>
                  </a:txBody>
                  <a:tcPr/>
                </a:tc>
                <a:tc>
                  <a:txBody>
                    <a:bodyPr/>
                    <a:lstStyle/>
                    <a:p>
                      <a:endParaRPr lang="en-IN" dirty="0"/>
                    </a:p>
                  </a:txBody>
                  <a:tcPr/>
                </a:tc>
                <a:extLst>
                  <a:ext uri="{0D108BD9-81ED-4DB2-BD59-A6C34878D82A}">
                    <a16:rowId xmlns:a16="http://schemas.microsoft.com/office/drawing/2014/main" val="2296626121"/>
                  </a:ext>
                </a:extLst>
              </a:tr>
            </a:tbl>
          </a:graphicData>
        </a:graphic>
      </p:graphicFrame>
    </p:spTree>
    <p:extLst>
      <p:ext uri="{BB962C8B-B14F-4D97-AF65-F5344CB8AC3E}">
        <p14:creationId xmlns:p14="http://schemas.microsoft.com/office/powerpoint/2010/main" val="2437957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88573-645F-C273-ACEA-926D502060CC}"/>
              </a:ext>
            </a:extLst>
          </p:cNvPr>
          <p:cNvSpPr>
            <a:spLocks noGrp="1"/>
          </p:cNvSpPr>
          <p:nvPr>
            <p:ph type="title"/>
          </p:nvPr>
        </p:nvSpPr>
        <p:spPr>
          <a:xfrm>
            <a:off x="681228" y="803897"/>
            <a:ext cx="10287000" cy="779806"/>
          </a:xfrm>
        </p:spPr>
        <p:txBody>
          <a:bodyPr/>
          <a:lstStyle/>
          <a:p>
            <a:r>
              <a:rPr lang="en-IN" dirty="0"/>
              <a:t>Modules</a:t>
            </a:r>
          </a:p>
        </p:txBody>
      </p:sp>
      <p:sp>
        <p:nvSpPr>
          <p:cNvPr id="4" name="Content Placeholder 3">
            <a:extLst>
              <a:ext uri="{FF2B5EF4-FFF2-40B4-BE49-F238E27FC236}">
                <a16:creationId xmlns:a16="http://schemas.microsoft.com/office/drawing/2014/main" id="{DC62383E-7681-B7DD-2136-FA49EDB0A29F}"/>
              </a:ext>
            </a:extLst>
          </p:cNvPr>
          <p:cNvSpPr>
            <a:spLocks noGrp="1"/>
          </p:cNvSpPr>
          <p:nvPr>
            <p:ph sz="half" idx="2"/>
          </p:nvPr>
        </p:nvSpPr>
        <p:spPr>
          <a:xfrm>
            <a:off x="792481" y="2765214"/>
            <a:ext cx="4439919" cy="2365586"/>
          </a:xfrm>
        </p:spPr>
        <p:txBody>
          <a:bodyPr/>
          <a:lstStyle/>
          <a:p>
            <a:pPr marL="0" indent="0">
              <a:buNone/>
            </a:pPr>
            <a:r>
              <a:rPr lang="en-IN" b="1" dirty="0">
                <a:latin typeface="+mj-lt"/>
                <a:cs typeface="Arial" panose="020B0604020202020204" pitchFamily="34" charset="0"/>
              </a:rPr>
              <a:t>QR Code Module</a:t>
            </a:r>
          </a:p>
          <a:p>
            <a:pPr marL="0" indent="0">
              <a:buNone/>
            </a:pPr>
            <a:r>
              <a:rPr lang="en-IN" b="1" dirty="0">
                <a:latin typeface="+mj-lt"/>
                <a:cs typeface="Arial" panose="020B0604020202020204" pitchFamily="34" charset="0"/>
              </a:rPr>
              <a:t>Purpose:</a:t>
            </a:r>
            <a:r>
              <a:rPr lang="en-IN" dirty="0">
                <a:latin typeface="+mj-lt"/>
                <a:cs typeface="Arial" panose="020B0604020202020204" pitchFamily="34" charset="0"/>
              </a:rPr>
              <a:t> Enable public transparency</a:t>
            </a:r>
          </a:p>
          <a:p>
            <a:pPr>
              <a:buFont typeface="Arial" panose="020B0604020202020204" pitchFamily="34" charset="0"/>
              <a:buChar char="•"/>
            </a:pPr>
            <a:endParaRPr lang="en-IN" dirty="0">
              <a:latin typeface="Arial" panose="020B0604020202020204" pitchFamily="34" charset="0"/>
              <a:cs typeface="Arial" panose="020B0604020202020204" pitchFamily="34" charset="0"/>
            </a:endParaRPr>
          </a:p>
          <a:p>
            <a:pPr lvl="0" eaLnBrk="0" fontAlgn="base" hangingPunct="0">
              <a:spcBef>
                <a:spcPct val="0"/>
              </a:spcBef>
              <a:spcAft>
                <a:spcPct val="0"/>
              </a:spcAft>
              <a:buClrTx/>
              <a:buFont typeface="Arial" panose="020B0604020202020204" pitchFamily="34" charset="0"/>
              <a:buChar char="•"/>
            </a:pPr>
            <a:r>
              <a:rPr lang="en-US" altLang="en-US" dirty="0">
                <a:latin typeface="Arial" panose="020B0604020202020204" pitchFamily="34" charset="0"/>
                <a:cs typeface="Arial" panose="020B0604020202020204" pitchFamily="34" charset="0"/>
              </a:rPr>
              <a:t>Generate QR code</a:t>
            </a:r>
          </a:p>
          <a:p>
            <a:pPr lvl="0" eaLnBrk="0" fontAlgn="base" hangingPunct="0">
              <a:spcBef>
                <a:spcPct val="0"/>
              </a:spcBef>
              <a:spcAft>
                <a:spcPct val="0"/>
              </a:spcAft>
              <a:buClrTx/>
              <a:buFont typeface="Arial" panose="020B0604020202020204" pitchFamily="34" charset="0"/>
              <a:buChar char="•"/>
            </a:pPr>
            <a:r>
              <a:rPr lang="en-US" altLang="en-US" dirty="0">
                <a:latin typeface="Arial" panose="020B0604020202020204" pitchFamily="34" charset="0"/>
                <a:cs typeface="Arial" panose="020B0604020202020204" pitchFamily="34" charset="0"/>
              </a:rPr>
              <a:t>Map QR to batch ID</a:t>
            </a:r>
          </a:p>
          <a:p>
            <a:pPr lvl="0" eaLnBrk="0" fontAlgn="base" hangingPunct="0">
              <a:spcBef>
                <a:spcPct val="0"/>
              </a:spcBef>
              <a:spcAft>
                <a:spcPct val="0"/>
              </a:spcAft>
              <a:buClrTx/>
              <a:buFont typeface="Arial" panose="020B0604020202020204" pitchFamily="34" charset="0"/>
              <a:buChar char="•"/>
            </a:pPr>
            <a:r>
              <a:rPr lang="en-US" altLang="en-US" dirty="0">
                <a:latin typeface="Arial" panose="020B0604020202020204" pitchFamily="34" charset="0"/>
                <a:cs typeface="Arial" panose="020B0604020202020204" pitchFamily="34" charset="0"/>
              </a:rPr>
              <a:t>Allow consumers to view history</a:t>
            </a:r>
          </a:p>
          <a:p>
            <a:endParaRPr lang="en-IN" dirty="0">
              <a:latin typeface="Arial" panose="020B0604020202020204" pitchFamily="34" charset="0"/>
              <a:cs typeface="Arial" panose="020B0604020202020204" pitchFamily="34" charset="0"/>
            </a:endParaRPr>
          </a:p>
          <a:p>
            <a:pPr marL="0" indent="0">
              <a:buNone/>
            </a:pPr>
            <a:endParaRPr lang="en-IN"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811157D7-0A5E-FEC3-B8BD-7EC04496C96E}"/>
              </a:ext>
            </a:extLst>
          </p:cNvPr>
          <p:cNvSpPr>
            <a:spLocks noGrp="1"/>
          </p:cNvSpPr>
          <p:nvPr>
            <p:ph sz="quarter" idx="4"/>
          </p:nvPr>
        </p:nvSpPr>
        <p:spPr>
          <a:xfrm>
            <a:off x="6373368" y="2765214"/>
            <a:ext cx="4754880" cy="3200400"/>
          </a:xfrm>
        </p:spPr>
        <p:txBody>
          <a:bodyPr/>
          <a:lstStyle/>
          <a:p>
            <a:pPr marL="0" indent="0">
              <a:buNone/>
            </a:pPr>
            <a:r>
              <a:rPr lang="en-US" b="1" dirty="0"/>
              <a:t>AI Integration Module</a:t>
            </a:r>
          </a:p>
          <a:p>
            <a:pPr marL="0" indent="0">
              <a:buNone/>
            </a:pPr>
            <a:r>
              <a:rPr lang="en-US" b="1" dirty="0"/>
              <a:t>Purpose:</a:t>
            </a:r>
            <a:r>
              <a:rPr lang="en-US" dirty="0"/>
              <a:t> Intelligent prediction</a:t>
            </a:r>
          </a:p>
          <a:p>
            <a:pPr marL="0" indent="0">
              <a:buNone/>
            </a:pPr>
            <a:endParaRPr lang="en-US" dirty="0"/>
          </a:p>
          <a:p>
            <a:pPr>
              <a:buFont typeface="Arial" panose="020B0604020202020204" pitchFamily="34" charset="0"/>
              <a:buChar char="•"/>
            </a:pPr>
            <a:r>
              <a:rPr lang="en-US" dirty="0">
                <a:latin typeface="Arial" panose="020B0604020202020204" pitchFamily="34" charset="0"/>
                <a:cs typeface="Arial" panose="020B0604020202020204" pitchFamily="34" charset="0"/>
              </a:rPr>
              <a:t>Send batch data to ML model</a:t>
            </a:r>
          </a:p>
          <a:p>
            <a:pPr>
              <a:buFont typeface="Arial" panose="020B0604020202020204" pitchFamily="34" charset="0"/>
              <a:buChar char="•"/>
            </a:pPr>
            <a:r>
              <a:rPr lang="en-US" dirty="0">
                <a:latin typeface="Arial" panose="020B0604020202020204" pitchFamily="34" charset="0"/>
                <a:cs typeface="Arial" panose="020B0604020202020204" pitchFamily="34" charset="0"/>
              </a:rPr>
              <a:t>Receive quality prediction</a:t>
            </a:r>
          </a:p>
          <a:p>
            <a:pPr>
              <a:buFont typeface="Arial" panose="020B0604020202020204" pitchFamily="34" charset="0"/>
              <a:buChar char="•"/>
            </a:pPr>
            <a:r>
              <a:rPr lang="en-US" dirty="0">
                <a:latin typeface="Arial" panose="020B0604020202020204" pitchFamily="34" charset="0"/>
                <a:cs typeface="Arial" panose="020B0604020202020204" pitchFamily="34" charset="0"/>
              </a:rPr>
              <a:t>Store quality score</a:t>
            </a:r>
          </a:p>
          <a:p>
            <a:endParaRPr lang="en-IN" dirty="0"/>
          </a:p>
        </p:txBody>
      </p:sp>
      <p:graphicFrame>
        <p:nvGraphicFramePr>
          <p:cNvPr id="15" name="Table 14">
            <a:extLst>
              <a:ext uri="{FF2B5EF4-FFF2-40B4-BE49-F238E27FC236}">
                <a16:creationId xmlns:a16="http://schemas.microsoft.com/office/drawing/2014/main" id="{F7ED8512-7DB0-BFE3-3A18-161673B57388}"/>
              </a:ext>
            </a:extLst>
          </p:cNvPr>
          <p:cNvGraphicFramePr>
            <a:graphicFrameLocks noGrp="1"/>
          </p:cNvGraphicFramePr>
          <p:nvPr>
            <p:extLst>
              <p:ext uri="{D42A27DB-BD31-4B8C-83A1-F6EECF244321}">
                <p14:modId xmlns:p14="http://schemas.microsoft.com/office/powerpoint/2010/main" val="440631767"/>
              </p:ext>
            </p:extLst>
          </p:nvPr>
        </p:nvGraphicFramePr>
        <p:xfrm>
          <a:off x="792479" y="2209800"/>
          <a:ext cx="10607039" cy="3755814"/>
        </p:xfrm>
        <a:graphic>
          <a:graphicData uri="http://schemas.openxmlformats.org/drawingml/2006/table">
            <a:tbl>
              <a:tblPr firstRow="1" bandRow="1">
                <a:tableStyleId>{5940675A-B579-460E-94D1-54222C63F5DA}</a:tableStyleId>
              </a:tblPr>
              <a:tblGrid>
                <a:gridCol w="5252721">
                  <a:extLst>
                    <a:ext uri="{9D8B030D-6E8A-4147-A177-3AD203B41FA5}">
                      <a16:colId xmlns:a16="http://schemas.microsoft.com/office/drawing/2014/main" val="938729254"/>
                    </a:ext>
                  </a:extLst>
                </a:gridCol>
                <a:gridCol w="5354318">
                  <a:extLst>
                    <a:ext uri="{9D8B030D-6E8A-4147-A177-3AD203B41FA5}">
                      <a16:colId xmlns:a16="http://schemas.microsoft.com/office/drawing/2014/main" val="379154522"/>
                    </a:ext>
                  </a:extLst>
                </a:gridCol>
              </a:tblGrid>
              <a:tr h="3755814">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02468946"/>
                  </a:ext>
                </a:extLst>
              </a:tr>
            </a:tbl>
          </a:graphicData>
        </a:graphic>
      </p:graphicFrame>
    </p:spTree>
    <p:extLst>
      <p:ext uri="{BB962C8B-B14F-4D97-AF65-F5344CB8AC3E}">
        <p14:creationId xmlns:p14="http://schemas.microsoft.com/office/powerpoint/2010/main" val="39763233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TM03457510[[fn=Savon]]</Template>
  <TotalTime>429</TotalTime>
  <Words>247</Words>
  <Application>Microsoft Office PowerPoint</Application>
  <PresentationFormat>Widescreen</PresentationFormat>
  <Paragraphs>48</Paragraphs>
  <Slides>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Century Gothic</vt:lpstr>
      <vt:lpstr>Garamond</vt:lpstr>
      <vt:lpstr>Times New Roman</vt:lpstr>
      <vt:lpstr>Savon</vt:lpstr>
      <vt:lpstr>FarmChainX AI-Driven Agricultural Traceability Network</vt:lpstr>
      <vt:lpstr>PROBLEM STATEMENT</vt:lpstr>
      <vt:lpstr>Architecture Diagram</vt:lpstr>
      <vt:lpstr>Use Case Diagram</vt:lpstr>
      <vt:lpstr>Modules</vt:lpstr>
      <vt:lpstr>Modules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Sravanthi Samurothu</dc:creator>
  <cp:lastModifiedBy>Sravanthi Samurothu</cp:lastModifiedBy>
  <cp:revision>5</cp:revision>
  <dcterms:created xsi:type="dcterms:W3CDTF">2026-02-17T12:51:09Z</dcterms:created>
  <dcterms:modified xsi:type="dcterms:W3CDTF">2026-02-24T14:32:58Z</dcterms:modified>
</cp:coreProperties>
</file>